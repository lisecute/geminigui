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Helvetica Neue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2eb72aa4e_0_0:notes"/>
          <p:cNvSpPr/>
          <p:nvPr>
            <p:ph idx="2" type="sldImg"/>
          </p:nvPr>
        </p:nvSpPr>
        <p:spPr>
          <a:xfrm>
            <a:off x="-428625" y="685565"/>
            <a:ext cx="77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2" name="Google Shape;72;g3e2eb72aa4e_0_0:notes"/>
          <p:cNvSpPr txBox="1"/>
          <p:nvPr>
            <p:ph idx="1" type="body"/>
          </p:nvPr>
        </p:nvSpPr>
        <p:spPr>
          <a:xfrm>
            <a:off x="685800" y="4343442"/>
            <a:ext cx="5486400" cy="4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650" lIns="97325" spcFirstLastPara="1" rIns="97325" wrap="square" tIns="48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2eb72aa4e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2eb72aa4e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eb72aa4e_1_0:notes"/>
          <p:cNvSpPr/>
          <p:nvPr>
            <p:ph idx="2" type="sldImg"/>
          </p:nvPr>
        </p:nvSpPr>
        <p:spPr>
          <a:xfrm>
            <a:off x="-428625" y="685565"/>
            <a:ext cx="77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e2eb72aa4e_1_0:notes"/>
          <p:cNvSpPr txBox="1"/>
          <p:nvPr>
            <p:ph idx="1" type="body"/>
          </p:nvPr>
        </p:nvSpPr>
        <p:spPr>
          <a:xfrm>
            <a:off x="685800" y="4343442"/>
            <a:ext cx="5486400" cy="4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650" lIns="97325" spcFirstLastPara="1" rIns="97325" wrap="square" tIns="48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2eb72aa4e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2eb72aa4e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">
  <p:cSld name="1_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638027" y="928688"/>
            <a:ext cx="7490100" cy="342600"/>
          </a:xfrm>
          <a:prstGeom prst="rect">
            <a:avLst/>
          </a:prstGeom>
          <a:noFill/>
          <a:ln>
            <a:noFill/>
          </a:ln>
          <a:effectLst>
            <a:outerShdw blurRad="63500" rotWithShape="0" algn="ctr" dir="2700000" dist="107763">
              <a:schemeClr val="folHlink">
                <a:alpha val="74900"/>
              </a:schemeClr>
            </a:outerShdw>
          </a:effectLst>
        </p:spPr>
        <p:txBody>
          <a:bodyPr anchorCtr="0" anchor="t" bIns="32400" lIns="64825" spcFirstLastPara="1" rIns="64825" wrap="square" tIns="32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524000" y="3053954"/>
            <a:ext cx="6096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64308"/>
              </a:buClr>
              <a:buSzPts val="1700"/>
              <a:buNone/>
              <a:defRPr/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lvl="2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/>
            </a:lvl6pPr>
            <a:lvl7pPr lvl="6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/>
            </a:lvl7pPr>
            <a:lvl8pPr lvl="7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/>
            </a:lvl8pPr>
            <a:lvl9pPr lvl="8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71441" y="2228850"/>
            <a:ext cx="9001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825" lIns="42050" spcFirstLastPara="1" rIns="42050" wrap="square" tIns="16825">
            <a:spAutoFit/>
          </a:bodyPr>
          <a:lstStyle>
            <a:lvl1pPr lv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/>
        </p:nvSpPr>
        <p:spPr>
          <a:xfrm>
            <a:off x="0" y="4677463"/>
            <a:ext cx="9144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425" lIns="64850" spcFirstLastPara="1" rIns="64850" wrap="square" tIns="32425">
            <a:spAutoFit/>
          </a:bodyPr>
          <a:lstStyle/>
          <a:p>
            <a:pPr indent="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material is based upon work supported by the U.S. Department of Energy, Office of Science, Office of Nuclear Physics and used resources of </a:t>
            </a:r>
            <a:b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Facility for Rare Isotope Beams (FRIB) Operations, which is a DOE Office of Science User Facility under Award Number DE-SC0023633, and by the US</a:t>
            </a:r>
            <a:b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Science Foundation under Grants No. PHY-20-12040 and 23-10078 “Windows on the Universe: Open Quantum Systems in Atomic Nuclei at FRIB”.</a:t>
            </a:r>
            <a:endParaRPr sz="1100"/>
          </a:p>
        </p:txBody>
      </p:sp>
      <p:sp>
        <p:nvSpPr>
          <p:cNvPr id="55" name="Google Shape;55;p13"/>
          <p:cNvSpPr/>
          <p:nvPr/>
        </p:nvSpPr>
        <p:spPr>
          <a:xfrm>
            <a:off x="3011412" y="311434"/>
            <a:ext cx="2743200" cy="157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71925" y="181581"/>
            <a:ext cx="1200150" cy="153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147217"/>
            <a:ext cx="2400301" cy="525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5792" y="4174400"/>
            <a:ext cx="1988820" cy="470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of a globe with a gold ring&#10;&#10;Description automatically generated" id="59" name="Google Shape;5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6650" y="4157511"/>
            <a:ext cx="1126806" cy="585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-12060" y="4591239"/>
            <a:ext cx="9156000" cy="573600"/>
          </a:xfrm>
          <a:prstGeom prst="rect">
            <a:avLst/>
          </a:prstGeom>
          <a:solidFill>
            <a:srgbClr val="E7E9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68" y="4581879"/>
            <a:ext cx="466068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IB_ppt_top.jpg"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3998" cy="57149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669779" y="990082"/>
            <a:ext cx="7864800" cy="263100"/>
          </a:xfrm>
          <a:prstGeom prst="rect">
            <a:avLst/>
          </a:prstGeom>
          <a:noFill/>
          <a:ln>
            <a:noFill/>
          </a:ln>
          <a:effectLst>
            <a:outerShdw blurRad="63500" rotWithShape="0" algn="ctr" dir="2700000" dist="107763">
              <a:schemeClr val="folHlink">
                <a:alpha val="74900"/>
              </a:schemeClr>
            </a:outerShdw>
          </a:effectLst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115405" y="2256984"/>
            <a:ext cx="9144000" cy="276900"/>
          </a:xfrm>
          <a:prstGeom prst="rect">
            <a:avLst/>
          </a:prstGeom>
          <a:noFill/>
          <a:ln>
            <a:noFill/>
          </a:ln>
          <a:effectLst>
            <a:outerShdw blurRad="63500" rotWithShape="0" algn="ctr" dir="2700000" dist="107763">
              <a:schemeClr val="folHlink">
                <a:alpha val="74900"/>
              </a:schemeClr>
            </a:outerShdw>
          </a:effectLst>
        </p:spPr>
        <p:txBody>
          <a:bodyPr anchorCtr="0" anchor="t" bIns="34250" lIns="68525" spcFirstLastPara="1" rIns="68525" wrap="square" tIns="34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70169" y="118526"/>
            <a:ext cx="8991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825" lIns="42050" spcFirstLastPara="1" rIns="42050" wrap="square" tIns="16825">
            <a:spAutoFit/>
          </a:bodyPr>
          <a:lstStyle>
            <a:lvl1pPr lv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4140684" y="4767338"/>
            <a:ext cx="4241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382000" y="4767338"/>
            <a:ext cx="762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indent="0" lvl="0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06430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, Slide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628650" y="4591240"/>
            <a:ext cx="34869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Facility for Rare Isotope Beams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U.S. Department of Energy Office of Science | Michigan State University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640 South Shaw Lane • East Lansing, MI 48824, USA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frib.msu.edu</a:t>
            </a:r>
            <a:endParaRPr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1049482" y="2686050"/>
            <a:ext cx="7086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4308"/>
              </a:buClr>
              <a:buSzPct val="121429"/>
              <a:buNone/>
            </a:pPr>
            <a:r>
              <a:rPr lang="en-GB"/>
              <a:t>Arjun Ray</a:t>
            </a:r>
            <a:br>
              <a:rPr lang="en-GB"/>
            </a:br>
            <a:br>
              <a:rPr lang="en-GB" sz="800"/>
            </a:br>
            <a:r>
              <a:rPr lang="en-GB" sz="1400"/>
              <a:t>Undergraduate Research Assistant II</a:t>
            </a:r>
            <a:br>
              <a:rPr lang="en-GB" sz="1400"/>
            </a:br>
            <a:r>
              <a:rPr lang="en-GB" sz="1400"/>
              <a:t>raya@frib.msu.edu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64308"/>
              </a:buClr>
              <a:buSzPct val="100000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64308"/>
              </a:buClr>
              <a:buSzPct val="100000"/>
              <a:buNone/>
            </a:pPr>
            <a:r>
              <a:rPr i="1" lang="en-GB" sz="1100"/>
              <a:t> 🡪 The Joint DNP/JPS workshop “Fragment Separation at RIBF and FRIB and Rare Isotope Production Mechanisms”</a:t>
            </a:r>
            <a:endParaRPr i="1" sz="1400"/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71438" y="2105596"/>
            <a:ext cx="9001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825" lIns="42050" spcFirstLastPara="1" rIns="42050" wrap="square" tIns="16825">
            <a:spAutoFit/>
          </a:bodyPr>
          <a:lstStyle/>
          <a:p>
            <a:pPr indent="0" lvl="0" marL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Gemini Updates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70169" y="118526"/>
            <a:ext cx="8991600" cy="318300"/>
          </a:xfrm>
          <a:prstGeom prst="rect">
            <a:avLst/>
          </a:prstGeom>
        </p:spPr>
        <p:txBody>
          <a:bodyPr anchorCtr="0" anchor="ctr" bIns="16825" lIns="42050" spcFirstLastPara="1" rIns="42050" wrap="square" tIns="1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Optimization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152150" y="807825"/>
            <a:ext cx="37140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– Gemini profiling to search for bottleneck points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– Gemini optimization at bottleneck points and more to result in Gemini being ~1.6x faster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50" y="3076000"/>
            <a:ext cx="3775265" cy="100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1125" y="900975"/>
            <a:ext cx="4220601" cy="318314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7989800" y="4840950"/>
            <a:ext cx="874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rgbClr val="064308"/>
                </a:solidFill>
              </a:rPr>
              <a:t>A. Ray, Slide 2</a:t>
            </a:r>
            <a:endParaRPr sz="800">
              <a:solidFill>
                <a:srgbClr val="06430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4140684" y="4767338"/>
            <a:ext cx="4241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A. Ray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382000" y="4767338"/>
            <a:ext cx="762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, Slide 3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0" y="585131"/>
            <a:ext cx="91440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64308"/>
              </a:solidFill>
            </a:endParaRPr>
          </a:p>
        </p:txBody>
      </p:sp>
      <p:cxnSp>
        <p:nvCxnSpPr>
          <p:cNvPr id="92" name="Google Shape;92;p17"/>
          <p:cNvCxnSpPr>
            <a:stCxn id="93" idx="0"/>
            <a:endCxn id="93" idx="0"/>
          </p:cNvCxnSpPr>
          <p:nvPr/>
        </p:nvCxnSpPr>
        <p:spPr>
          <a:xfrm>
            <a:off x="790275" y="15169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5125"/>
            <a:ext cx="18478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158" y="1231962"/>
            <a:ext cx="6372842" cy="326736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60875" y="1907250"/>
            <a:ext cx="1329000" cy="314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" name="Google Shape;97;p17"/>
          <p:cNvCxnSpPr>
            <a:stCxn id="96" idx="3"/>
          </p:cNvCxnSpPr>
          <p:nvPr/>
        </p:nvCxnSpPr>
        <p:spPr>
          <a:xfrm flipH="1" rot="10800000">
            <a:off x="1389875" y="994350"/>
            <a:ext cx="1257900" cy="107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/>
        </p:nvSpPr>
        <p:spPr>
          <a:xfrm>
            <a:off x="2597100" y="619050"/>
            <a:ext cx="59043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Checkbox to display tables and plots in a new window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771150" y="4291300"/>
            <a:ext cx="2852700" cy="15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17"/>
          <p:cNvCxnSpPr/>
          <p:nvPr/>
        </p:nvCxnSpPr>
        <p:spPr>
          <a:xfrm rot="10800000">
            <a:off x="1672250" y="4364800"/>
            <a:ext cx="10989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7"/>
          <p:cNvSpPr txBox="1"/>
          <p:nvPr/>
        </p:nvSpPr>
        <p:spPr>
          <a:xfrm>
            <a:off x="156875" y="3965825"/>
            <a:ext cx="23181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4 types of plots for each table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60875" y="2571750"/>
            <a:ext cx="2536200" cy="12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– Implemented PACE style angular distribution tables for Gemini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0" y="78450"/>
            <a:ext cx="91440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Angular Distribution Table 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70169" y="118526"/>
            <a:ext cx="8991600" cy="318300"/>
          </a:xfrm>
          <a:prstGeom prst="rect">
            <a:avLst/>
          </a:prstGeom>
        </p:spPr>
        <p:txBody>
          <a:bodyPr anchorCtr="0" anchor="ctr" bIns="16825" lIns="42050" spcFirstLastPara="1" rIns="42050" wrap="square" tIns="1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Plots</a:t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1517" r="0" t="0"/>
          <a:stretch/>
        </p:blipFill>
        <p:spPr>
          <a:xfrm>
            <a:off x="0" y="599375"/>
            <a:ext cx="6685549" cy="894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8"/>
          <p:cNvCxnSpPr/>
          <p:nvPr/>
        </p:nvCxnSpPr>
        <p:spPr>
          <a:xfrm>
            <a:off x="6137700" y="882625"/>
            <a:ext cx="89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8"/>
          <p:cNvSpPr txBox="1"/>
          <p:nvPr/>
        </p:nvSpPr>
        <p:spPr>
          <a:xfrm>
            <a:off x="7101475" y="599375"/>
            <a:ext cx="19605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“Plot All” option for each type of plot to display plots for all tables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4">
            <a:alphaModFix/>
          </a:blip>
          <a:srcRect b="0" l="1845" r="0" t="7834"/>
          <a:stretch/>
        </p:blipFill>
        <p:spPr>
          <a:xfrm>
            <a:off x="70175" y="1655025"/>
            <a:ext cx="4011603" cy="212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6825" y="1708238"/>
            <a:ext cx="3503739" cy="201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8"/>
          <p:cNvCxnSpPr/>
          <p:nvPr/>
        </p:nvCxnSpPr>
        <p:spPr>
          <a:xfrm flipH="1">
            <a:off x="1143100" y="3630700"/>
            <a:ext cx="11100" cy="58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8"/>
          <p:cNvSpPr txBox="1"/>
          <p:nvPr/>
        </p:nvSpPr>
        <p:spPr>
          <a:xfrm>
            <a:off x="345225" y="4168600"/>
            <a:ext cx="4011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2D E vs Theta Plot example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116" name="Google Shape;116;p18"/>
          <p:cNvCxnSpPr>
            <a:endCxn id="117" idx="0"/>
          </p:cNvCxnSpPr>
          <p:nvPr/>
        </p:nvCxnSpPr>
        <p:spPr>
          <a:xfrm flipH="1">
            <a:off x="4936225" y="3529750"/>
            <a:ext cx="465000" cy="66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8"/>
          <p:cNvSpPr txBox="1"/>
          <p:nvPr/>
        </p:nvSpPr>
        <p:spPr>
          <a:xfrm>
            <a:off x="3877225" y="4190950"/>
            <a:ext cx="21180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1D plot example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18" name="Google Shape;118;p18"/>
          <p:cNvCxnSpPr/>
          <p:nvPr/>
        </p:nvCxnSpPr>
        <p:spPr>
          <a:xfrm>
            <a:off x="7631200" y="2218775"/>
            <a:ext cx="492900" cy="3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8"/>
          <p:cNvCxnSpPr/>
          <p:nvPr/>
        </p:nvCxnSpPr>
        <p:spPr>
          <a:xfrm>
            <a:off x="5726200" y="2498900"/>
            <a:ext cx="1154100" cy="15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8"/>
          <p:cNvSpPr txBox="1"/>
          <p:nvPr/>
        </p:nvSpPr>
        <p:spPr>
          <a:xfrm>
            <a:off x="6252875" y="3955700"/>
            <a:ext cx="28089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Gaussian distribution for all 1D plots with N(count)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6">
            <a:alphaModFix/>
          </a:blip>
          <a:srcRect b="0" l="0" r="40811" t="0"/>
          <a:stretch/>
        </p:blipFill>
        <p:spPr>
          <a:xfrm>
            <a:off x="7932425" y="2523600"/>
            <a:ext cx="1129550" cy="8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7844125" y="4818525"/>
            <a:ext cx="10533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800">
                <a:solidFill>
                  <a:srgbClr val="064308"/>
                </a:solidFill>
              </a:rPr>
              <a:t>A. Ray, Slide 4</a:t>
            </a:r>
            <a:endParaRPr sz="800">
              <a:solidFill>
                <a:srgbClr val="06430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